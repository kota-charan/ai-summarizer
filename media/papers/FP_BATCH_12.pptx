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40B4E-A6FC-2077-0E40-BE885A1930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CEADC0-1DDA-2BA2-B55D-53DD5381D5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BDB3F1-BBCF-EB74-FC56-0F3CA99D7555}"/>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5" name="Footer Placeholder 4">
            <a:extLst>
              <a:ext uri="{FF2B5EF4-FFF2-40B4-BE49-F238E27FC236}">
                <a16:creationId xmlns:a16="http://schemas.microsoft.com/office/drawing/2014/main" id="{ED91515E-0052-077D-3AF4-7A5F84E5E7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88C186-D39B-9C32-297B-B0DB53BE2EF1}"/>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3040968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2713B-0A1A-E9E0-FB0B-852F5C5B1F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90EF52-6E8A-0ECA-0868-56DBEE9978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F040C7-47A0-9AAF-E433-5445D0ECA5F6}"/>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5" name="Footer Placeholder 4">
            <a:extLst>
              <a:ext uri="{FF2B5EF4-FFF2-40B4-BE49-F238E27FC236}">
                <a16:creationId xmlns:a16="http://schemas.microsoft.com/office/drawing/2014/main" id="{E0A7DEF8-3DD1-A321-3414-F0915CF819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BF0DFD-CF33-9114-965D-7DD0604833D2}"/>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31221220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2C274-3BEA-4EA7-C280-0C7E61E86A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9115BD5-8FCE-BB1D-6C0C-0DD61422B5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675B7F-0584-F282-3573-B0BE433E0C40}"/>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5" name="Footer Placeholder 4">
            <a:extLst>
              <a:ext uri="{FF2B5EF4-FFF2-40B4-BE49-F238E27FC236}">
                <a16:creationId xmlns:a16="http://schemas.microsoft.com/office/drawing/2014/main" id="{0D0A413E-A767-C622-19DC-101B27A291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2B7F49-F491-B455-C7DF-47EE0E399D96}"/>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132252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8D383-C903-F037-E834-B3E29BB8AF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9AE8990-94AA-386C-C8DD-0D5F937874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E6802DC-7444-7A5E-DCA7-949E4E43ED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0CB104-135A-C14C-44E6-D92912B94EFE}"/>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6" name="Footer Placeholder 5">
            <a:extLst>
              <a:ext uri="{FF2B5EF4-FFF2-40B4-BE49-F238E27FC236}">
                <a16:creationId xmlns:a16="http://schemas.microsoft.com/office/drawing/2014/main" id="{549ED818-2319-097F-2893-1EEB33CE4C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77D901-E554-3942-E16E-31F84F3E3739}"/>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3261106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2CC5-BEC8-B36E-EE6F-2133BA9317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AFA3860-DBD3-8B74-3F15-D6D017CDFC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452ABC-1072-A421-FA46-F89C85C92A3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36E036-EA4D-D750-ADC8-72D164EEF8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B6C53F-7649-1C84-96A1-627759EDF6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A6439E-C67A-352A-7018-39AF7498DECA}"/>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8" name="Footer Placeholder 7">
            <a:extLst>
              <a:ext uri="{FF2B5EF4-FFF2-40B4-BE49-F238E27FC236}">
                <a16:creationId xmlns:a16="http://schemas.microsoft.com/office/drawing/2014/main" id="{4E4AC077-208C-7A10-017F-954D44C03F6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734037-80DE-39A0-AFB8-6C32EA0AC523}"/>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1116176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09BD8-3D51-7B3B-985B-EE17285234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68882-7D73-D00C-A079-E4BECC62CBE7}"/>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4" name="Footer Placeholder 3">
            <a:extLst>
              <a:ext uri="{FF2B5EF4-FFF2-40B4-BE49-F238E27FC236}">
                <a16:creationId xmlns:a16="http://schemas.microsoft.com/office/drawing/2014/main" id="{4321E656-4C46-AE18-1CFC-A80573BDC5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A45A3-98CB-90E4-0A5A-FF4F12A77F85}"/>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3650800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1FE8CE-3290-A92C-37F8-8590A7EE2699}"/>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3" name="Footer Placeholder 2">
            <a:extLst>
              <a:ext uri="{FF2B5EF4-FFF2-40B4-BE49-F238E27FC236}">
                <a16:creationId xmlns:a16="http://schemas.microsoft.com/office/drawing/2014/main" id="{46445396-CF0B-B3C7-3D46-016918C94A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FDF2932-93EB-AAB0-B076-49130E3CDE6B}"/>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4111976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F0D1-9460-4C2E-B895-B73173D5E4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84F694-3D25-654F-8BB4-ABB77D5740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1ED03B-CFB1-53C0-A088-179FBB10D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407C64-CCBE-8D9A-15B0-DC5DADB75AEA}"/>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6" name="Footer Placeholder 5">
            <a:extLst>
              <a:ext uri="{FF2B5EF4-FFF2-40B4-BE49-F238E27FC236}">
                <a16:creationId xmlns:a16="http://schemas.microsoft.com/office/drawing/2014/main" id="{3482A6AF-A6E0-9E87-78A7-0B16D3398B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CA7B76-81CE-C056-6569-3904FB5E9458}"/>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1661865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21C81-1A07-EE4D-FCFF-4448B0719D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21B1FC-A674-3B3C-FFA7-49AE2E567A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7CDE3BB-CD4A-46B6-C755-EF595AC23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1FAB13-290A-05F0-B517-E6F6E98DA6A8}"/>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6" name="Footer Placeholder 5">
            <a:extLst>
              <a:ext uri="{FF2B5EF4-FFF2-40B4-BE49-F238E27FC236}">
                <a16:creationId xmlns:a16="http://schemas.microsoft.com/office/drawing/2014/main" id="{0A3ADA9F-5411-3B39-B75C-83F033CCEB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68662A-708C-6530-84F4-005A0FDC3301}"/>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1161260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BE637-1E94-A249-BA71-A89335BF2E9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F8C338-4FAE-DF6F-572E-40A3DAD550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236EEF-A28A-FFD2-86B7-4861A2248D55}"/>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5" name="Footer Placeholder 4">
            <a:extLst>
              <a:ext uri="{FF2B5EF4-FFF2-40B4-BE49-F238E27FC236}">
                <a16:creationId xmlns:a16="http://schemas.microsoft.com/office/drawing/2014/main" id="{4E406D17-D833-D89F-E1F2-F3B49961AD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565761-5D9B-E00A-F33B-E940F155C25C}"/>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72196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57E572-F5C9-488A-46FD-8ABE1265B8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F1E505-D0DB-9305-FB82-8C0AE98426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71F7FF-4183-2ED4-88F6-C7299B01C7EA}"/>
              </a:ext>
            </a:extLst>
          </p:cNvPr>
          <p:cNvSpPr>
            <a:spLocks noGrp="1"/>
          </p:cNvSpPr>
          <p:nvPr>
            <p:ph type="dt" sz="half" idx="10"/>
          </p:nvPr>
        </p:nvSpPr>
        <p:spPr/>
        <p:txBody>
          <a:bodyPr/>
          <a:lstStyle/>
          <a:p>
            <a:fld id="{E143DC43-C5A4-4806-BB83-714D8CE64955}" type="datetimeFigureOut">
              <a:rPr lang="en-US" smtClean="0"/>
              <a:t>04-Apr-26</a:t>
            </a:fld>
            <a:endParaRPr lang="en-US"/>
          </a:p>
        </p:txBody>
      </p:sp>
      <p:sp>
        <p:nvSpPr>
          <p:cNvPr id="5" name="Footer Placeholder 4">
            <a:extLst>
              <a:ext uri="{FF2B5EF4-FFF2-40B4-BE49-F238E27FC236}">
                <a16:creationId xmlns:a16="http://schemas.microsoft.com/office/drawing/2014/main" id="{E15CC7E8-7D16-EE33-66A1-2F66651AB7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ACD75-D676-5612-0FE5-68A4FB077AD0}"/>
              </a:ext>
            </a:extLst>
          </p:cNvPr>
          <p:cNvSpPr>
            <a:spLocks noGrp="1"/>
          </p:cNvSpPr>
          <p:nvPr>
            <p:ph type="sldNum" sz="quarter" idx="12"/>
          </p:nvPr>
        </p:nvSpPr>
        <p:spPr/>
        <p:txBody>
          <a:bodyPr/>
          <a:lstStyle/>
          <a:p>
            <a:fld id="{09C8166A-14C5-4BCA-9C0B-5DB5E4D9ECB7}" type="slidenum">
              <a:rPr lang="en-US" smtClean="0"/>
              <a:t>‹#›</a:t>
            </a:fld>
            <a:endParaRPr lang="en-US"/>
          </a:p>
        </p:txBody>
      </p:sp>
    </p:spTree>
    <p:extLst>
      <p:ext uri="{BB962C8B-B14F-4D97-AF65-F5344CB8AC3E}">
        <p14:creationId xmlns:p14="http://schemas.microsoft.com/office/powerpoint/2010/main" val="1080200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22DEC6-B5E7-1961-1821-48D88BF85C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42CF5F-B8A5-72EE-FAB7-7269302E72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51BFA6-F1F9-7739-E5EA-B92582F1D1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43DC43-C5A4-4806-BB83-714D8CE64955}" type="datetimeFigureOut">
              <a:rPr lang="en-US" smtClean="0"/>
              <a:t>04-Apr-26</a:t>
            </a:fld>
            <a:endParaRPr lang="en-US"/>
          </a:p>
        </p:txBody>
      </p:sp>
      <p:sp>
        <p:nvSpPr>
          <p:cNvPr id="5" name="Footer Placeholder 4">
            <a:extLst>
              <a:ext uri="{FF2B5EF4-FFF2-40B4-BE49-F238E27FC236}">
                <a16:creationId xmlns:a16="http://schemas.microsoft.com/office/drawing/2014/main" id="{703DD5F7-4759-0771-B54C-B21BA1A697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E14DBB-2C31-57F5-F699-7D2480195F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C8166A-14C5-4BCA-9C0B-5DB5E4D9ECB7}" type="slidenum">
              <a:rPr lang="en-US" smtClean="0"/>
              <a:t>‹#›</a:t>
            </a:fld>
            <a:endParaRPr lang="en-US"/>
          </a:p>
        </p:txBody>
      </p:sp>
    </p:spTree>
    <p:extLst>
      <p:ext uri="{BB962C8B-B14F-4D97-AF65-F5344CB8AC3E}">
        <p14:creationId xmlns:p14="http://schemas.microsoft.com/office/powerpoint/2010/main" val="3388532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5BF1B7D-A439-E467-EBE8-A5B1A2E2199C}"/>
              </a:ext>
            </a:extLst>
          </p:cNvPr>
          <p:cNvSpPr>
            <a:spLocks noGrp="1"/>
          </p:cNvSpPr>
          <p:nvPr>
            <p:ph type="subTitle" idx="1"/>
          </p:nvPr>
        </p:nvSpPr>
        <p:spPr>
          <a:xfrm>
            <a:off x="1675636" y="2129854"/>
            <a:ext cx="9144000" cy="787082"/>
          </a:xfrm>
        </p:spPr>
        <p:txBody>
          <a:bodyPr>
            <a:normAutofit/>
          </a:bodyPr>
          <a:lstStyle/>
          <a:p>
            <a:r>
              <a:rPr lang="en-US" sz="4400" b="1" dirty="0">
                <a:latin typeface="Times New Roman" panose="02020603050405020304" pitchFamily="18" charset="0"/>
                <a:cs typeface="Times New Roman" panose="02020603050405020304" pitchFamily="18" charset="0"/>
              </a:rPr>
              <a:t>FIELD PROJECT</a:t>
            </a:r>
          </a:p>
        </p:txBody>
      </p:sp>
      <p:pic>
        <p:nvPicPr>
          <p:cNvPr id="6" name="Picture 5">
            <a:extLst>
              <a:ext uri="{FF2B5EF4-FFF2-40B4-BE49-F238E27FC236}">
                <a16:creationId xmlns:a16="http://schemas.microsoft.com/office/drawing/2014/main" id="{C2BE2DDD-472F-3B29-AA8C-DDA4C653BF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3297" y="-161546"/>
            <a:ext cx="5408679" cy="2405457"/>
          </a:xfrm>
          <a:prstGeom prst="rect">
            <a:avLst/>
          </a:prstGeom>
        </p:spPr>
      </p:pic>
      <p:sp>
        <p:nvSpPr>
          <p:cNvPr id="7" name="TextBox 6">
            <a:extLst>
              <a:ext uri="{FF2B5EF4-FFF2-40B4-BE49-F238E27FC236}">
                <a16:creationId xmlns:a16="http://schemas.microsoft.com/office/drawing/2014/main" id="{4D3FE66B-F7CC-8113-C3C8-3F7D531CAE36}"/>
              </a:ext>
            </a:extLst>
          </p:cNvPr>
          <p:cNvSpPr txBox="1"/>
          <p:nvPr/>
        </p:nvSpPr>
        <p:spPr>
          <a:xfrm>
            <a:off x="7686245" y="4426857"/>
            <a:ext cx="2531462" cy="984885"/>
          </a:xfrm>
          <a:prstGeom prst="rect">
            <a:avLst/>
          </a:prstGeom>
          <a:noFill/>
        </p:spPr>
        <p:txBody>
          <a:bodyPr wrap="none" rtlCol="0">
            <a:spAutoFit/>
          </a:bodyPr>
          <a:lstStyle/>
          <a:p>
            <a:pPr algn="ctr"/>
            <a:r>
              <a:rPr lang="en-US" sz="2900" dirty="0">
                <a:latin typeface="Times New Roman" panose="02020603050405020304" pitchFamily="18" charset="0"/>
                <a:cs typeface="Times New Roman" panose="02020603050405020304" pitchFamily="18" charset="0"/>
              </a:rPr>
              <a:t>BATCH-12</a:t>
            </a:r>
          </a:p>
          <a:p>
            <a:pPr algn="ctr"/>
            <a:r>
              <a:rPr lang="en-US" sz="2900" dirty="0">
                <a:latin typeface="Times New Roman" panose="02020603050405020304" pitchFamily="18" charset="0"/>
                <a:cs typeface="Times New Roman" panose="02020603050405020304" pitchFamily="18" charset="0"/>
              </a:rPr>
              <a:t> SECTION - 19</a:t>
            </a:r>
          </a:p>
        </p:txBody>
      </p:sp>
      <p:sp>
        <p:nvSpPr>
          <p:cNvPr id="8" name="TextBox 7">
            <a:extLst>
              <a:ext uri="{FF2B5EF4-FFF2-40B4-BE49-F238E27FC236}">
                <a16:creationId xmlns:a16="http://schemas.microsoft.com/office/drawing/2014/main" id="{FBF2F84A-B42C-D3CC-D499-C9931532F2EE}"/>
              </a:ext>
            </a:extLst>
          </p:cNvPr>
          <p:cNvSpPr txBox="1"/>
          <p:nvPr/>
        </p:nvSpPr>
        <p:spPr>
          <a:xfrm>
            <a:off x="6839712" y="5446604"/>
            <a:ext cx="5571744" cy="1200329"/>
          </a:xfrm>
          <a:prstGeom prst="rect">
            <a:avLst/>
          </a:prstGeom>
          <a:noFill/>
        </p:spPr>
        <p:txBody>
          <a:bodyPr wrap="square" rtlCol="0">
            <a:spAutoFit/>
          </a:bodyPr>
          <a:lstStyle/>
          <a:p>
            <a:pPr algn="just"/>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241FA04257 PATHAN IMRAN KHAN</a:t>
            </a:r>
          </a:p>
          <a:p>
            <a:pPr algn="just"/>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241FA04323 KHANISHQ VENKAT</a:t>
            </a:r>
          </a:p>
          <a:p>
            <a:pPr algn="just"/>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241FA04484  RAKESH SAI</a:t>
            </a:r>
            <a:endParaRPr lang="en-IN" sz="2400" dirty="0">
              <a:solidFill>
                <a:schemeClr val="tx1">
                  <a:lumMod val="85000"/>
                  <a:lumOff val="15000"/>
                </a:schemeClr>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21D1756-7E93-BE96-6597-D17FCBFB6781}"/>
              </a:ext>
            </a:extLst>
          </p:cNvPr>
          <p:cNvSpPr txBox="1"/>
          <p:nvPr/>
        </p:nvSpPr>
        <p:spPr>
          <a:xfrm>
            <a:off x="4516080" y="2916936"/>
            <a:ext cx="3159839" cy="707886"/>
          </a:xfrm>
          <a:prstGeom prst="rect">
            <a:avLst/>
          </a:prstGeom>
          <a:noFill/>
        </p:spPr>
        <p:txBody>
          <a:bodyPr wrap="none" rtlCol="0">
            <a:spAutoFit/>
          </a:bodyPr>
          <a:lstStyle/>
          <a:p>
            <a:r>
              <a:rPr lang="en-US" sz="4000" b="1" dirty="0">
                <a:latin typeface="Times New Roman" panose="02020603050405020304" pitchFamily="18" charset="0"/>
                <a:cs typeface="Times New Roman" panose="02020603050405020304" pitchFamily="18" charset="0"/>
              </a:rPr>
              <a:t>E CANTEEN</a:t>
            </a:r>
          </a:p>
        </p:txBody>
      </p:sp>
    </p:spTree>
    <p:extLst>
      <p:ext uri="{BB962C8B-B14F-4D97-AF65-F5344CB8AC3E}">
        <p14:creationId xmlns:p14="http://schemas.microsoft.com/office/powerpoint/2010/main" val="3550307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E020B-D52A-0BA0-6BCD-B0584F6788C7}"/>
              </a:ext>
            </a:extLst>
          </p:cNvPr>
          <p:cNvSpPr>
            <a:spLocks noGrp="1"/>
          </p:cNvSpPr>
          <p:nvPr>
            <p:ph type="title"/>
          </p:nvPr>
        </p:nvSpPr>
        <p:spPr>
          <a:xfrm>
            <a:off x="280416" y="283677"/>
            <a:ext cx="10515600" cy="677291"/>
          </a:xfrm>
        </p:spPr>
        <p:txBody>
          <a:bodyPr>
            <a:normAutofit/>
          </a:bodyPr>
          <a:lstStyle/>
          <a:p>
            <a:pPr algn="just"/>
            <a:r>
              <a:rPr lang="en-US" sz="3200" b="1" dirty="0">
                <a:latin typeface="Times New Roman" panose="02020603050405020304" pitchFamily="18" charset="0"/>
                <a:cs typeface="Times New Roman" panose="02020603050405020304" pitchFamily="18" charset="0"/>
              </a:rPr>
              <a:t>What is e-Canteen?</a:t>
            </a:r>
          </a:p>
        </p:txBody>
      </p:sp>
      <p:sp>
        <p:nvSpPr>
          <p:cNvPr id="3" name="Content Placeholder 2">
            <a:extLst>
              <a:ext uri="{FF2B5EF4-FFF2-40B4-BE49-F238E27FC236}">
                <a16:creationId xmlns:a16="http://schemas.microsoft.com/office/drawing/2014/main" id="{CA473AAD-3A2E-58AB-B936-4681564725A5}"/>
              </a:ext>
            </a:extLst>
          </p:cNvPr>
          <p:cNvSpPr>
            <a:spLocks noGrp="1"/>
          </p:cNvSpPr>
          <p:nvPr>
            <p:ph idx="1"/>
          </p:nvPr>
        </p:nvSpPr>
        <p:spPr>
          <a:xfrm>
            <a:off x="445008" y="1020953"/>
            <a:ext cx="9970008" cy="2645791"/>
          </a:xfrm>
        </p:spPr>
        <p:txBody>
          <a:bodyPr>
            <a:noAutofit/>
          </a:bodyPr>
          <a:lstStyle/>
          <a:p>
            <a:pPr algn="just"/>
            <a:r>
              <a:rPr lang="en-US" sz="2600" dirty="0">
                <a:latin typeface="Times New Roman" panose="02020603050405020304" pitchFamily="18" charset="0"/>
                <a:cs typeface="Times New Roman" panose="02020603050405020304" pitchFamily="18" charset="0"/>
              </a:rPr>
              <a:t>Definition: </a:t>
            </a:r>
            <a:r>
              <a:rPr lang="en-US" sz="2400" dirty="0">
                <a:latin typeface="Times New Roman" panose="02020603050405020304" pitchFamily="18" charset="0"/>
                <a:cs typeface="Times New Roman" panose="02020603050405020304" pitchFamily="18" charset="0"/>
              </a:rPr>
              <a:t>An online food ordering and management web application designed to facilitate seamless ordering in canteens/mess facilities.</a:t>
            </a:r>
          </a:p>
          <a:p>
            <a:pPr algn="just"/>
            <a:r>
              <a:rPr lang="en-US" sz="2600" dirty="0">
                <a:latin typeface="Times New Roman" panose="02020603050405020304" pitchFamily="18" charset="0"/>
                <a:cs typeface="Times New Roman" panose="02020603050405020304" pitchFamily="18" charset="0"/>
              </a:rPr>
              <a:t>Objective: </a:t>
            </a:r>
            <a:r>
              <a:rPr lang="en-US" sz="2400" dirty="0">
                <a:latin typeface="Times New Roman" panose="02020603050405020304" pitchFamily="18" charset="0"/>
                <a:cs typeface="Times New Roman" panose="02020603050405020304" pitchFamily="18" charset="0"/>
              </a:rPr>
              <a:t>To eliminate long queues and cash transactions by moving the entire process online.</a:t>
            </a:r>
          </a:p>
          <a:p>
            <a:pPr algn="just"/>
            <a:r>
              <a:rPr lang="en-US" sz="2600" dirty="0">
                <a:latin typeface="Times New Roman" panose="02020603050405020304" pitchFamily="18" charset="0"/>
                <a:cs typeface="Times New Roman" panose="02020603050405020304" pitchFamily="18" charset="0"/>
              </a:rPr>
              <a:t>Scope: </a:t>
            </a:r>
            <a:r>
              <a:rPr lang="en-US" sz="2400" dirty="0">
                <a:latin typeface="Times New Roman" panose="02020603050405020304" pitchFamily="18" charset="0"/>
                <a:cs typeface="Times New Roman" panose="02020603050405020304" pitchFamily="18" charset="0"/>
              </a:rPr>
              <a:t>Designed for schools, colleges, and corporate offices.</a:t>
            </a:r>
          </a:p>
          <a:p>
            <a:pPr algn="just"/>
            <a:r>
              <a:rPr lang="en-US" sz="2600" dirty="0">
                <a:latin typeface="Times New Roman" panose="02020603050405020304" pitchFamily="18" charset="0"/>
                <a:cs typeface="Times New Roman" panose="02020603050405020304" pitchFamily="18" charset="0"/>
              </a:rPr>
              <a:t>Core Concept: </a:t>
            </a:r>
            <a:r>
              <a:rPr lang="en-US" sz="2400" dirty="0">
                <a:latin typeface="Times New Roman" panose="02020603050405020304" pitchFamily="18" charset="0"/>
                <a:cs typeface="Times New Roman" panose="02020603050405020304" pitchFamily="18" charset="0"/>
              </a:rPr>
              <a:t>Order online -&gt; Pay digitally -&gt; Pick up instantly.</a:t>
            </a:r>
          </a:p>
        </p:txBody>
      </p:sp>
      <p:pic>
        <p:nvPicPr>
          <p:cNvPr id="5" name="Picture 4">
            <a:extLst>
              <a:ext uri="{FF2B5EF4-FFF2-40B4-BE49-F238E27FC236}">
                <a16:creationId xmlns:a16="http://schemas.microsoft.com/office/drawing/2014/main" id="{FE655837-3A8F-15A6-AB77-F3BE0923F0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301298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E217-5262-794A-0656-D2540FB80A20}"/>
              </a:ext>
            </a:extLst>
          </p:cNvPr>
          <p:cNvSpPr>
            <a:spLocks noGrp="1"/>
          </p:cNvSpPr>
          <p:nvPr>
            <p:ph type="title"/>
          </p:nvPr>
        </p:nvSpPr>
        <p:spPr>
          <a:xfrm>
            <a:off x="216408" y="173101"/>
            <a:ext cx="10515600" cy="613283"/>
          </a:xfrm>
        </p:spPr>
        <p:txBody>
          <a:bodyPr>
            <a:normAutofit/>
          </a:bodyPr>
          <a:lstStyle/>
          <a:p>
            <a:r>
              <a:rPr lang="en-US" sz="3200" b="1" dirty="0">
                <a:latin typeface="Times New Roman" panose="02020603050405020304" pitchFamily="18" charset="0"/>
                <a:cs typeface="Times New Roman" panose="02020603050405020304" pitchFamily="18" charset="0"/>
              </a:rPr>
              <a:t>Issues with Traditional Canteens</a:t>
            </a:r>
          </a:p>
        </p:txBody>
      </p:sp>
      <p:sp>
        <p:nvSpPr>
          <p:cNvPr id="3" name="Content Placeholder 2">
            <a:extLst>
              <a:ext uri="{FF2B5EF4-FFF2-40B4-BE49-F238E27FC236}">
                <a16:creationId xmlns:a16="http://schemas.microsoft.com/office/drawing/2014/main" id="{125B0330-2138-CA7F-B7C7-6F10AE55D7A3}"/>
              </a:ext>
            </a:extLst>
          </p:cNvPr>
          <p:cNvSpPr>
            <a:spLocks noGrp="1"/>
          </p:cNvSpPr>
          <p:nvPr>
            <p:ph idx="1"/>
          </p:nvPr>
        </p:nvSpPr>
        <p:spPr>
          <a:xfrm>
            <a:off x="371856" y="929513"/>
            <a:ext cx="10515600" cy="3029839"/>
          </a:xfrm>
        </p:spPr>
        <p:txBody>
          <a:bodyPr>
            <a:normAutofit lnSpcReduction="10000"/>
          </a:bodyPr>
          <a:lstStyle/>
          <a:p>
            <a:pPr algn="just"/>
            <a:r>
              <a:rPr lang="en-US" sz="2600" dirty="0">
                <a:latin typeface="Times New Roman" panose="02020603050405020304" pitchFamily="18" charset="0"/>
                <a:cs typeface="Times New Roman" panose="02020603050405020304" pitchFamily="18" charset="0"/>
              </a:rPr>
              <a:t>Time Wastage: </a:t>
            </a:r>
            <a:r>
              <a:rPr lang="en-US" sz="2400" dirty="0">
                <a:latin typeface="Times New Roman" panose="02020603050405020304" pitchFamily="18" charset="0"/>
                <a:cs typeface="Times New Roman" panose="02020603050405020304" pitchFamily="18" charset="0"/>
              </a:rPr>
              <a:t>Employees/Students spend 15-20 minutes in queues during short breaks.</a:t>
            </a:r>
          </a:p>
          <a:p>
            <a:pPr algn="just"/>
            <a:r>
              <a:rPr lang="en-US" sz="2600" dirty="0">
                <a:latin typeface="Times New Roman" panose="02020603050405020304" pitchFamily="18" charset="0"/>
                <a:cs typeface="Times New Roman" panose="02020603050405020304" pitchFamily="18" charset="0"/>
              </a:rPr>
              <a:t>Cash Handling: </a:t>
            </a:r>
            <a:r>
              <a:rPr lang="en-US" sz="2400" dirty="0">
                <a:latin typeface="Times New Roman" panose="02020603050405020304" pitchFamily="18" charset="0"/>
                <a:cs typeface="Times New Roman" panose="02020603050405020304" pitchFamily="18" charset="0"/>
              </a:rPr>
              <a:t>Problems with loose change, risk of theft, and unhygienic handling of money near food.</a:t>
            </a:r>
          </a:p>
          <a:p>
            <a:pPr algn="just"/>
            <a:r>
              <a:rPr lang="en-US" sz="2600" dirty="0">
                <a:latin typeface="Times New Roman" panose="02020603050405020304" pitchFamily="18" charset="0"/>
                <a:cs typeface="Times New Roman" panose="02020603050405020304" pitchFamily="18" charset="0"/>
              </a:rPr>
              <a:t>Manual Errors: </a:t>
            </a:r>
            <a:r>
              <a:rPr lang="en-US" sz="2400" dirty="0">
                <a:latin typeface="Times New Roman" panose="02020603050405020304" pitchFamily="18" charset="0"/>
                <a:cs typeface="Times New Roman" panose="02020603050405020304" pitchFamily="18" charset="0"/>
              </a:rPr>
              <a:t>Cashiers often make calculation mistakes during rush hours.</a:t>
            </a:r>
          </a:p>
          <a:p>
            <a:pPr algn="just"/>
            <a:r>
              <a:rPr lang="en-US" sz="2600" dirty="0">
                <a:latin typeface="Times New Roman" panose="02020603050405020304" pitchFamily="18" charset="0"/>
                <a:cs typeface="Times New Roman" panose="02020603050405020304" pitchFamily="18" charset="0"/>
              </a:rPr>
              <a:t>Food Wastage: </a:t>
            </a:r>
            <a:r>
              <a:rPr lang="en-US" sz="2400" dirty="0">
                <a:latin typeface="Times New Roman" panose="02020603050405020304" pitchFamily="18" charset="0"/>
                <a:cs typeface="Times New Roman" panose="02020603050405020304" pitchFamily="18" charset="0"/>
              </a:rPr>
              <a:t>Canteen staff cooks blindly without knowing exact demand.</a:t>
            </a:r>
          </a:p>
          <a:p>
            <a:pPr algn="just"/>
            <a:r>
              <a:rPr lang="en-US" sz="2600" dirty="0">
                <a:latin typeface="Times New Roman" panose="02020603050405020304" pitchFamily="18" charset="0"/>
                <a:cs typeface="Times New Roman" panose="02020603050405020304" pitchFamily="18" charset="0"/>
              </a:rPr>
              <a:t>Lack of Feedback: </a:t>
            </a:r>
            <a:r>
              <a:rPr lang="en-US" sz="2400" dirty="0">
                <a:latin typeface="Times New Roman" panose="02020603050405020304" pitchFamily="18" charset="0"/>
                <a:cs typeface="Times New Roman" panose="02020603050405020304" pitchFamily="18" charset="0"/>
              </a:rPr>
              <a:t>No mechanism for customers to rate food quality instantly.</a:t>
            </a: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AB9F777-CFA9-0213-9996-BA5962F72D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9144"/>
            <a:ext cx="3332991" cy="1244646"/>
          </a:xfrm>
          <a:prstGeom prst="rect">
            <a:avLst/>
          </a:prstGeom>
        </p:spPr>
      </p:pic>
    </p:spTree>
    <p:extLst>
      <p:ext uri="{BB962C8B-B14F-4D97-AF65-F5344CB8AC3E}">
        <p14:creationId xmlns:p14="http://schemas.microsoft.com/office/powerpoint/2010/main" val="3162995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BF16-E4BA-4597-D39C-8D4170748DEB}"/>
              </a:ext>
            </a:extLst>
          </p:cNvPr>
          <p:cNvSpPr>
            <a:spLocks noGrp="1"/>
          </p:cNvSpPr>
          <p:nvPr>
            <p:ph type="title"/>
          </p:nvPr>
        </p:nvSpPr>
        <p:spPr>
          <a:xfrm>
            <a:off x="179832" y="246253"/>
            <a:ext cx="10515600" cy="631571"/>
          </a:xfrm>
        </p:spPr>
        <p:txBody>
          <a:bodyPr>
            <a:normAutofit/>
          </a:bodyPr>
          <a:lstStyle/>
          <a:p>
            <a:r>
              <a:rPr lang="en-US" sz="3200" b="1" dirty="0">
                <a:latin typeface="Times New Roman" panose="02020603050405020304" pitchFamily="18" charset="0"/>
                <a:cs typeface="Times New Roman" panose="02020603050405020304" pitchFamily="18" charset="0"/>
              </a:rPr>
              <a:t>The e-Canteen Ecosystem</a:t>
            </a:r>
          </a:p>
        </p:txBody>
      </p:sp>
      <p:sp>
        <p:nvSpPr>
          <p:cNvPr id="3" name="Content Placeholder 2">
            <a:extLst>
              <a:ext uri="{FF2B5EF4-FFF2-40B4-BE49-F238E27FC236}">
                <a16:creationId xmlns:a16="http://schemas.microsoft.com/office/drawing/2014/main" id="{9B2B55E7-C4F2-32F4-5071-8E1AA139D773}"/>
              </a:ext>
            </a:extLst>
          </p:cNvPr>
          <p:cNvSpPr>
            <a:spLocks noGrp="1"/>
          </p:cNvSpPr>
          <p:nvPr>
            <p:ph idx="1"/>
          </p:nvPr>
        </p:nvSpPr>
        <p:spPr>
          <a:xfrm>
            <a:off x="271272" y="993520"/>
            <a:ext cx="6129528" cy="4416551"/>
          </a:xfrm>
        </p:spPr>
        <p:txBody>
          <a:bodyPr>
            <a:normAutofit/>
          </a:bodyPr>
          <a:lstStyle/>
          <a:p>
            <a:pPr algn="just"/>
            <a:r>
              <a:rPr lang="en-US" sz="2600" dirty="0">
                <a:latin typeface="Times New Roman" panose="02020603050405020304" pitchFamily="18" charset="0"/>
                <a:cs typeface="Times New Roman" panose="02020603050405020304" pitchFamily="18" charset="0"/>
              </a:rPr>
              <a:t>Web Portal: </a:t>
            </a:r>
            <a:r>
              <a:rPr lang="en-US" sz="2400" dirty="0">
                <a:latin typeface="Times New Roman" panose="02020603050405020304" pitchFamily="18" charset="0"/>
                <a:cs typeface="Times New Roman" panose="02020603050405020304" pitchFamily="18" charset="0"/>
              </a:rPr>
              <a:t>Accessible via desktop/laptop for office workers.</a:t>
            </a:r>
          </a:p>
          <a:p>
            <a:pPr algn="just"/>
            <a:r>
              <a:rPr lang="en-US" sz="2600" dirty="0">
                <a:latin typeface="Times New Roman" panose="02020603050405020304" pitchFamily="18" charset="0"/>
                <a:cs typeface="Times New Roman" panose="02020603050405020304" pitchFamily="18" charset="0"/>
              </a:rPr>
              <a:t>Mobile App (Android/iOS): </a:t>
            </a:r>
            <a:r>
              <a:rPr lang="en-US" sz="2400" dirty="0">
                <a:latin typeface="Times New Roman" panose="02020603050405020304" pitchFamily="18" charset="0"/>
                <a:cs typeface="Times New Roman" panose="02020603050405020304" pitchFamily="18" charset="0"/>
              </a:rPr>
              <a:t>For students and staff on the move.</a:t>
            </a:r>
          </a:p>
          <a:p>
            <a:pPr algn="just"/>
            <a:r>
              <a:rPr lang="en-US" sz="2600" dirty="0">
                <a:latin typeface="Times New Roman" panose="02020603050405020304" pitchFamily="18" charset="0"/>
                <a:cs typeface="Times New Roman" panose="02020603050405020304" pitchFamily="18" charset="0"/>
              </a:rPr>
              <a:t>Digital Wallet: </a:t>
            </a:r>
            <a:r>
              <a:rPr lang="en-US" sz="2400" dirty="0">
                <a:latin typeface="Times New Roman" panose="02020603050405020304" pitchFamily="18" charset="0"/>
                <a:cs typeface="Times New Roman" panose="02020603050405020304" pitchFamily="18" charset="0"/>
              </a:rPr>
              <a:t>Users preload money or use UPI/Net banking.</a:t>
            </a:r>
          </a:p>
          <a:p>
            <a:pPr algn="just"/>
            <a:r>
              <a:rPr lang="en-US" sz="2600" dirty="0">
                <a:latin typeface="Times New Roman" panose="02020603050405020304" pitchFamily="18" charset="0"/>
                <a:cs typeface="Times New Roman" panose="02020603050405020304" pitchFamily="18" charset="0"/>
              </a:rPr>
              <a:t>Smart Kitchen Display: </a:t>
            </a:r>
            <a:r>
              <a:rPr lang="en-US" sz="2400" dirty="0">
                <a:latin typeface="Times New Roman" panose="02020603050405020304" pitchFamily="18" charset="0"/>
                <a:cs typeface="Times New Roman" panose="02020603050405020304" pitchFamily="18" charset="0"/>
              </a:rPr>
              <a:t>Orders appear on the chef's screen instead of paper slips.</a:t>
            </a:r>
          </a:p>
          <a:p>
            <a:pPr algn="just"/>
            <a:r>
              <a:rPr lang="en-US" sz="2600" dirty="0">
                <a:latin typeface="Times New Roman" panose="02020603050405020304" pitchFamily="18" charset="0"/>
                <a:cs typeface="Times New Roman" panose="02020603050405020304" pitchFamily="18" charset="0"/>
              </a:rPr>
              <a:t>Real-Time Inventory: </a:t>
            </a:r>
            <a:r>
              <a:rPr lang="en-US" sz="2400" dirty="0">
                <a:latin typeface="Times New Roman" panose="02020603050405020304" pitchFamily="18" charset="0"/>
                <a:cs typeface="Times New Roman" panose="02020603050405020304" pitchFamily="18" charset="0"/>
              </a:rPr>
              <a:t>Menu items grey out when stock runs out.</a:t>
            </a:r>
          </a:p>
          <a:p>
            <a:endParaRPr lang="en-US" sz="2400" dirty="0">
              <a:latin typeface="Times New Roman" panose="02020603050405020304" pitchFamily="18" charset="0"/>
              <a:cs typeface="Times New Roman" panose="02020603050405020304" pitchFamily="18" charset="0"/>
            </a:endParaRPr>
          </a:p>
        </p:txBody>
      </p:sp>
      <p:pic>
        <p:nvPicPr>
          <p:cNvPr id="3076" name="Picture 4" descr="5 Unbelievable Differences: Digital Notes Vs Handwritten Notes">
            <a:extLst>
              <a:ext uri="{FF2B5EF4-FFF2-40B4-BE49-F238E27FC236}">
                <a16:creationId xmlns:a16="http://schemas.microsoft.com/office/drawing/2014/main" id="{A5077BD0-D357-3A75-7A26-86E4A32AFE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740664"/>
            <a:ext cx="5349240" cy="441655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41AF39F-BD29-22C5-68E4-8407E0B557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340083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animEffect transition="in" filter="fade">
                                      <p:cBhvr>
                                        <p:cTn id="7"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8DFA-2DDF-B3B1-F6D5-10BE97B9F678}"/>
              </a:ext>
            </a:extLst>
          </p:cNvPr>
          <p:cNvSpPr>
            <a:spLocks noGrp="1"/>
          </p:cNvSpPr>
          <p:nvPr>
            <p:ph type="title"/>
          </p:nvPr>
        </p:nvSpPr>
        <p:spPr>
          <a:xfrm>
            <a:off x="170688" y="191389"/>
            <a:ext cx="10515600" cy="622427"/>
          </a:xfrm>
        </p:spPr>
        <p:txBody>
          <a:bodyPr>
            <a:normAutofit/>
          </a:bodyPr>
          <a:lstStyle/>
          <a:p>
            <a:r>
              <a:rPr lang="en-US" sz="3200" b="1" dirty="0">
                <a:latin typeface="Times New Roman" panose="02020603050405020304" pitchFamily="18" charset="0"/>
                <a:cs typeface="Times New Roman" panose="02020603050405020304" pitchFamily="18" charset="0"/>
              </a:rPr>
              <a:t>Features for the Customer</a:t>
            </a:r>
          </a:p>
        </p:txBody>
      </p:sp>
      <p:sp>
        <p:nvSpPr>
          <p:cNvPr id="3" name="Content Placeholder 2">
            <a:extLst>
              <a:ext uri="{FF2B5EF4-FFF2-40B4-BE49-F238E27FC236}">
                <a16:creationId xmlns:a16="http://schemas.microsoft.com/office/drawing/2014/main" id="{BFBE70C6-4277-2C4E-B191-2E695DB4CC31}"/>
              </a:ext>
            </a:extLst>
          </p:cNvPr>
          <p:cNvSpPr>
            <a:spLocks noGrp="1"/>
          </p:cNvSpPr>
          <p:nvPr>
            <p:ph idx="1"/>
          </p:nvPr>
        </p:nvSpPr>
        <p:spPr>
          <a:xfrm>
            <a:off x="262128" y="969264"/>
            <a:ext cx="6010656" cy="4123944"/>
          </a:xfrm>
        </p:spPr>
        <p:txBody>
          <a:bodyPr>
            <a:normAutofit/>
          </a:bodyPr>
          <a:lstStyle/>
          <a:p>
            <a:pPr algn="just"/>
            <a:r>
              <a:rPr lang="en-US" sz="2600" dirty="0">
                <a:latin typeface="Times New Roman" panose="02020603050405020304" pitchFamily="18" charset="0"/>
                <a:cs typeface="Times New Roman" panose="02020603050405020304" pitchFamily="18" charset="0"/>
              </a:rPr>
              <a:t>Live Menu: </a:t>
            </a:r>
            <a:r>
              <a:rPr lang="en-US" sz="2400" dirty="0">
                <a:latin typeface="Times New Roman" panose="02020603050405020304" pitchFamily="18" charset="0"/>
                <a:cs typeface="Times New Roman" panose="02020603050405020304" pitchFamily="18" charset="0"/>
              </a:rPr>
              <a:t>View today’s menu with prices and photos.</a:t>
            </a:r>
          </a:p>
          <a:p>
            <a:pPr algn="just"/>
            <a:r>
              <a:rPr lang="en-US" sz="2600" dirty="0">
                <a:latin typeface="Times New Roman" panose="02020603050405020304" pitchFamily="18" charset="0"/>
                <a:cs typeface="Times New Roman" panose="02020603050405020304" pitchFamily="18" charset="0"/>
              </a:rPr>
              <a:t>Cart System: </a:t>
            </a:r>
            <a:r>
              <a:rPr lang="en-US" sz="2400" dirty="0">
                <a:latin typeface="Times New Roman" panose="02020603050405020304" pitchFamily="18" charset="0"/>
                <a:cs typeface="Times New Roman" panose="02020603050405020304" pitchFamily="18" charset="0"/>
              </a:rPr>
              <a:t>Add multiple items, customize (e.g., "Extra cheese", "No sugar").</a:t>
            </a:r>
          </a:p>
          <a:p>
            <a:pPr algn="just"/>
            <a:r>
              <a:rPr lang="en-US" sz="2600" dirty="0">
                <a:latin typeface="Times New Roman" panose="02020603050405020304" pitchFamily="18" charset="0"/>
                <a:cs typeface="Times New Roman" panose="02020603050405020304" pitchFamily="18" charset="0"/>
              </a:rPr>
              <a:t>Pre-Ordering: </a:t>
            </a:r>
            <a:r>
              <a:rPr lang="en-US" sz="2400" dirty="0">
                <a:latin typeface="Times New Roman" panose="02020603050405020304" pitchFamily="18" charset="0"/>
                <a:cs typeface="Times New Roman" panose="02020603050405020304" pitchFamily="18" charset="0"/>
              </a:rPr>
              <a:t>Schedule lunch for a specific time (e.g., Order at 10 AM for 1 PM pickup).</a:t>
            </a:r>
          </a:p>
          <a:p>
            <a:pPr algn="just"/>
            <a:r>
              <a:rPr lang="en-US" sz="2600" dirty="0">
                <a:latin typeface="Times New Roman" panose="02020603050405020304" pitchFamily="18" charset="0"/>
                <a:cs typeface="Times New Roman" panose="02020603050405020304" pitchFamily="18" charset="0"/>
              </a:rPr>
              <a:t>Order History: </a:t>
            </a:r>
            <a:r>
              <a:rPr lang="en-US" sz="2400" dirty="0">
                <a:latin typeface="Times New Roman" panose="02020603050405020304" pitchFamily="18" charset="0"/>
                <a:cs typeface="Times New Roman" panose="02020603050405020304" pitchFamily="18" charset="0"/>
              </a:rPr>
              <a:t>View past orders and reorder favorites.</a:t>
            </a:r>
          </a:p>
          <a:p>
            <a:pPr algn="just"/>
            <a:r>
              <a:rPr lang="en-US" sz="2600" dirty="0">
                <a:latin typeface="Times New Roman" panose="02020603050405020304" pitchFamily="18" charset="0"/>
                <a:cs typeface="Times New Roman" panose="02020603050405020304" pitchFamily="18" charset="0"/>
              </a:rPr>
              <a:t>Ratings: </a:t>
            </a:r>
            <a:r>
              <a:rPr lang="en-US" sz="2400" dirty="0">
                <a:latin typeface="Times New Roman" panose="02020603050405020304" pitchFamily="18" charset="0"/>
                <a:cs typeface="Times New Roman" panose="02020603050405020304" pitchFamily="18" charset="0"/>
              </a:rPr>
              <a:t>Give 1-5 star ratings to dishes.</a:t>
            </a: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5122" name="Picture 2" descr="McDonald's Tests Cash-Enabled Ordering Kiosks">
            <a:extLst>
              <a:ext uri="{FF2B5EF4-FFF2-40B4-BE49-F238E27FC236}">
                <a16:creationId xmlns:a16="http://schemas.microsoft.com/office/drawing/2014/main" id="{68491D51-F327-3152-287A-CD6DC4D7F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32320" y="827532"/>
            <a:ext cx="4459224" cy="388619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AC6EF3B-8E4C-49AF-DB26-98F443F311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415802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FF65A-9D96-1130-DBA4-8F5D34711453}"/>
              </a:ext>
            </a:extLst>
          </p:cNvPr>
          <p:cNvSpPr>
            <a:spLocks noGrp="1"/>
          </p:cNvSpPr>
          <p:nvPr>
            <p:ph type="title"/>
          </p:nvPr>
        </p:nvSpPr>
        <p:spPr>
          <a:xfrm>
            <a:off x="252984" y="324103"/>
            <a:ext cx="10515600" cy="713867"/>
          </a:xfrm>
        </p:spPr>
        <p:txBody>
          <a:bodyPr>
            <a:normAutofit/>
          </a:bodyPr>
          <a:lstStyle/>
          <a:p>
            <a:r>
              <a:rPr lang="en-US" sz="3200" b="1" dirty="0">
                <a:latin typeface="Times New Roman" panose="02020603050405020304" pitchFamily="18" charset="0"/>
                <a:cs typeface="Times New Roman" panose="02020603050405020304" pitchFamily="18" charset="0"/>
              </a:rPr>
              <a:t>Features for the Canteen Admin:</a:t>
            </a:r>
          </a:p>
        </p:txBody>
      </p:sp>
      <p:sp>
        <p:nvSpPr>
          <p:cNvPr id="3" name="Content Placeholder 2">
            <a:extLst>
              <a:ext uri="{FF2B5EF4-FFF2-40B4-BE49-F238E27FC236}">
                <a16:creationId xmlns:a16="http://schemas.microsoft.com/office/drawing/2014/main" id="{28B59FD9-3CBB-6D06-4E22-C751FBB9656A}"/>
              </a:ext>
            </a:extLst>
          </p:cNvPr>
          <p:cNvSpPr>
            <a:spLocks noGrp="1"/>
          </p:cNvSpPr>
          <p:nvPr>
            <p:ph idx="1"/>
          </p:nvPr>
        </p:nvSpPr>
        <p:spPr>
          <a:xfrm>
            <a:off x="252984" y="1037970"/>
            <a:ext cx="6096000" cy="4055238"/>
          </a:xfrm>
        </p:spPr>
        <p:txBody>
          <a:bodyPr>
            <a:normAutofit/>
          </a:bodyPr>
          <a:lstStyle/>
          <a:p>
            <a:pPr algn="just"/>
            <a:r>
              <a:rPr lang="en-US" sz="2600" dirty="0">
                <a:latin typeface="Times New Roman" panose="02020603050405020304" pitchFamily="18" charset="0"/>
                <a:cs typeface="Times New Roman" panose="02020603050405020304" pitchFamily="18" charset="0"/>
              </a:rPr>
              <a:t>Dashboard:</a:t>
            </a:r>
            <a:r>
              <a:rPr lang="en-US" sz="2400" dirty="0">
                <a:latin typeface="Times New Roman" panose="02020603050405020304" pitchFamily="18" charset="0"/>
                <a:cs typeface="Times New Roman" panose="02020603050405020304" pitchFamily="18" charset="0"/>
              </a:rPr>
              <a:t> Overview of total sales, daily revenue, and pending orders.</a:t>
            </a:r>
          </a:p>
          <a:p>
            <a:pPr algn="just"/>
            <a:r>
              <a:rPr lang="en-US" sz="2600" dirty="0">
                <a:latin typeface="Times New Roman" panose="02020603050405020304" pitchFamily="18" charset="0"/>
                <a:cs typeface="Times New Roman" panose="02020603050405020304" pitchFamily="18" charset="0"/>
              </a:rPr>
              <a:t>Menu Management:</a:t>
            </a:r>
            <a:r>
              <a:rPr lang="en-US" sz="2400" dirty="0">
                <a:latin typeface="Times New Roman" panose="02020603050405020304" pitchFamily="18" charset="0"/>
                <a:cs typeface="Times New Roman" panose="02020603050405020304" pitchFamily="18" charset="0"/>
              </a:rPr>
              <a:t> Add, remove, or update prices of dishes instantly.</a:t>
            </a:r>
          </a:p>
          <a:p>
            <a:pPr algn="just"/>
            <a:r>
              <a:rPr lang="en-US" sz="2600" dirty="0">
                <a:latin typeface="Times New Roman" panose="02020603050405020304" pitchFamily="18" charset="0"/>
                <a:cs typeface="Times New Roman" panose="02020603050405020304" pitchFamily="18" charset="0"/>
              </a:rPr>
              <a:t>User Management: </a:t>
            </a:r>
            <a:r>
              <a:rPr lang="en-US" sz="2400" dirty="0">
                <a:latin typeface="Times New Roman" panose="02020603050405020304" pitchFamily="18" charset="0"/>
                <a:cs typeface="Times New Roman" panose="02020603050405020304" pitchFamily="18" charset="0"/>
              </a:rPr>
              <a:t>View employee/student details and refund requests.</a:t>
            </a:r>
          </a:p>
          <a:p>
            <a:pPr algn="just"/>
            <a:r>
              <a:rPr lang="en-US" sz="2400" dirty="0">
                <a:latin typeface="Times New Roman" panose="02020603050405020304" pitchFamily="18" charset="0"/>
                <a:cs typeface="Times New Roman" panose="02020603050405020304" pitchFamily="18" charset="0"/>
              </a:rPr>
              <a:t>Reports: Generate monthly reports (Excel/PDF) for accounting.</a:t>
            </a:r>
          </a:p>
          <a:p>
            <a:pPr algn="just"/>
            <a:r>
              <a:rPr lang="en-US" sz="2600" dirty="0">
                <a:latin typeface="Times New Roman" panose="02020603050405020304" pitchFamily="18" charset="0"/>
                <a:cs typeface="Times New Roman" panose="02020603050405020304" pitchFamily="18" charset="0"/>
              </a:rPr>
              <a:t>Inventory Alert: </a:t>
            </a:r>
            <a:r>
              <a:rPr lang="en-US" sz="2400" dirty="0">
                <a:latin typeface="Times New Roman" panose="02020603050405020304" pitchFamily="18" charset="0"/>
                <a:cs typeface="Times New Roman" panose="02020603050405020304" pitchFamily="18" charset="0"/>
              </a:rPr>
              <a:t>Notifications when ingredients are running low.</a:t>
            </a:r>
          </a:p>
          <a:p>
            <a:pPr algn="just"/>
            <a:endParaRPr lang="en-US" sz="2400" dirty="0">
              <a:latin typeface="Times New Roman" panose="02020603050405020304" pitchFamily="18" charset="0"/>
              <a:cs typeface="Times New Roman" panose="02020603050405020304" pitchFamily="18" charset="0"/>
            </a:endParaRPr>
          </a:p>
        </p:txBody>
      </p:sp>
      <p:pic>
        <p:nvPicPr>
          <p:cNvPr id="6148" name="Picture 4" descr="KPI Dashboard PowerPoint Template And Google Slides">
            <a:extLst>
              <a:ext uri="{FF2B5EF4-FFF2-40B4-BE49-F238E27FC236}">
                <a16:creationId xmlns:a16="http://schemas.microsoft.com/office/drawing/2014/main" id="{FB1BAA16-63C7-8929-3823-B5E37441B1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1928" y="922274"/>
            <a:ext cx="5910072" cy="388747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7B5643A-C095-6B9C-84F7-965D83C254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7200515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7A803-DDC3-D8FC-DA31-72FF53570F84}"/>
              </a:ext>
            </a:extLst>
          </p:cNvPr>
          <p:cNvSpPr>
            <a:spLocks noGrp="1"/>
          </p:cNvSpPr>
          <p:nvPr>
            <p:ph type="title"/>
          </p:nvPr>
        </p:nvSpPr>
        <p:spPr>
          <a:xfrm>
            <a:off x="188976" y="99949"/>
            <a:ext cx="10515600" cy="677291"/>
          </a:xfrm>
        </p:spPr>
        <p:txBody>
          <a:bodyPr>
            <a:normAutofit/>
          </a:bodyPr>
          <a:lstStyle/>
          <a:p>
            <a:r>
              <a:rPr lang="en-US" sz="3200" b="1" dirty="0">
                <a:latin typeface="Times New Roman" panose="02020603050405020304" pitchFamily="18" charset="0"/>
                <a:cs typeface="Times New Roman" panose="02020603050405020304" pitchFamily="18" charset="0"/>
              </a:rPr>
              <a:t>How It Works (Workflow)</a:t>
            </a:r>
          </a:p>
        </p:txBody>
      </p:sp>
      <p:sp>
        <p:nvSpPr>
          <p:cNvPr id="3" name="Content Placeholder 2">
            <a:extLst>
              <a:ext uri="{FF2B5EF4-FFF2-40B4-BE49-F238E27FC236}">
                <a16:creationId xmlns:a16="http://schemas.microsoft.com/office/drawing/2014/main" id="{A4E7A1F5-307D-9ACA-59E6-125507159A19}"/>
              </a:ext>
            </a:extLst>
          </p:cNvPr>
          <p:cNvSpPr>
            <a:spLocks noGrp="1"/>
          </p:cNvSpPr>
          <p:nvPr>
            <p:ph idx="1"/>
          </p:nvPr>
        </p:nvSpPr>
        <p:spPr>
          <a:xfrm>
            <a:off x="188976" y="914400"/>
            <a:ext cx="10515600" cy="2837815"/>
          </a:xfrm>
        </p:spPr>
        <p:txBody>
          <a:bodyPr>
            <a:normAutofit/>
          </a:bodyPr>
          <a:lstStyle/>
          <a:p>
            <a:pPr algn="just"/>
            <a:r>
              <a:rPr lang="en-US" sz="2400" dirty="0">
                <a:latin typeface="Times New Roman" panose="02020603050405020304" pitchFamily="18" charset="0"/>
                <a:cs typeface="Times New Roman" panose="02020603050405020304" pitchFamily="18" charset="0"/>
              </a:rPr>
              <a:t>Login: User logs in with unique ID.</a:t>
            </a:r>
          </a:p>
          <a:p>
            <a:pPr algn="just"/>
            <a:r>
              <a:rPr lang="en-US" sz="2400" dirty="0">
                <a:latin typeface="Times New Roman" panose="02020603050405020304" pitchFamily="18" charset="0"/>
                <a:cs typeface="Times New Roman" panose="02020603050405020304" pitchFamily="18" charset="0"/>
              </a:rPr>
              <a:t>Select: User selects food items from the digital menu.</a:t>
            </a:r>
          </a:p>
          <a:p>
            <a:pPr algn="just"/>
            <a:r>
              <a:rPr lang="en-US" sz="2400" dirty="0">
                <a:latin typeface="Times New Roman" panose="02020603050405020304" pitchFamily="18" charset="0"/>
                <a:cs typeface="Times New Roman" panose="02020603050405020304" pitchFamily="18" charset="0"/>
              </a:rPr>
              <a:t>Pay: User pays via e-Wallet or Credit Card.</a:t>
            </a:r>
          </a:p>
          <a:p>
            <a:pPr algn="just"/>
            <a:r>
              <a:rPr lang="en-US" sz="2400" dirty="0">
                <a:latin typeface="Times New Roman" panose="02020603050405020304" pitchFamily="18" charset="0"/>
                <a:cs typeface="Times New Roman" panose="02020603050405020304" pitchFamily="18" charset="0"/>
              </a:rPr>
              <a:t>Notify: Kitchen receives an automated digital receipt.</a:t>
            </a:r>
          </a:p>
          <a:p>
            <a:pPr algn="just"/>
            <a:r>
              <a:rPr lang="en-US" sz="2400" dirty="0">
                <a:latin typeface="Times New Roman" panose="02020603050405020304" pitchFamily="18" charset="0"/>
                <a:cs typeface="Times New Roman" panose="02020603050405020304" pitchFamily="18" charset="0"/>
              </a:rPr>
              <a:t>Process: Chef prepares the order and updates status to "Ready."</a:t>
            </a:r>
          </a:p>
          <a:p>
            <a:pPr algn="just"/>
            <a:r>
              <a:rPr lang="en-US" sz="2400" dirty="0">
                <a:latin typeface="Times New Roman" panose="02020603050405020304" pitchFamily="18" charset="0"/>
                <a:cs typeface="Times New Roman" panose="02020603050405020304" pitchFamily="18" charset="0"/>
              </a:rPr>
              <a:t>Collect: User picks up order by showing a unique Order ID/QR Code.</a:t>
            </a:r>
          </a:p>
          <a:p>
            <a:pPr algn="just"/>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30F01E-10FD-B2B4-8D09-9029D35240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445577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9ED9C-32E6-0A6A-AB8A-B73D9CADF240}"/>
              </a:ext>
            </a:extLst>
          </p:cNvPr>
          <p:cNvSpPr>
            <a:spLocks noGrp="1"/>
          </p:cNvSpPr>
          <p:nvPr>
            <p:ph type="title"/>
          </p:nvPr>
        </p:nvSpPr>
        <p:spPr>
          <a:xfrm>
            <a:off x="97536" y="191389"/>
            <a:ext cx="10515600" cy="585851"/>
          </a:xfrm>
        </p:spPr>
        <p:txBody>
          <a:bodyPr>
            <a:normAutofit/>
          </a:bodyPr>
          <a:lstStyle/>
          <a:p>
            <a:r>
              <a:rPr lang="en-US" sz="3200" b="1" dirty="0">
                <a:latin typeface="Times New Roman" panose="02020603050405020304" pitchFamily="18" charset="0"/>
                <a:cs typeface="Times New Roman" panose="02020603050405020304" pitchFamily="18" charset="0"/>
              </a:rPr>
              <a:t>Technical Specifications</a:t>
            </a:r>
          </a:p>
        </p:txBody>
      </p:sp>
      <p:sp>
        <p:nvSpPr>
          <p:cNvPr id="3" name="Content Placeholder 2">
            <a:extLst>
              <a:ext uri="{FF2B5EF4-FFF2-40B4-BE49-F238E27FC236}">
                <a16:creationId xmlns:a16="http://schemas.microsoft.com/office/drawing/2014/main" id="{7D0B5794-E23C-5DB4-02B1-2C4930501454}"/>
              </a:ext>
            </a:extLst>
          </p:cNvPr>
          <p:cNvSpPr>
            <a:spLocks noGrp="1"/>
          </p:cNvSpPr>
          <p:nvPr>
            <p:ph idx="1"/>
          </p:nvPr>
        </p:nvSpPr>
        <p:spPr>
          <a:xfrm>
            <a:off x="188976" y="847217"/>
            <a:ext cx="10515600" cy="2408047"/>
          </a:xfrm>
        </p:spPr>
        <p:txBody>
          <a:bodyPr>
            <a:normAutofit/>
          </a:bodyPr>
          <a:lstStyle/>
          <a:p>
            <a:r>
              <a:rPr lang="en-US" sz="2400" dirty="0">
                <a:latin typeface="Times New Roman" panose="02020603050405020304" pitchFamily="18" charset="0"/>
                <a:cs typeface="Times New Roman" panose="02020603050405020304" pitchFamily="18" charset="0"/>
              </a:rPr>
              <a:t>Frontend: HTML5, CSS3, JavaScript, React.js (or Angular).</a:t>
            </a:r>
          </a:p>
          <a:p>
            <a:r>
              <a:rPr lang="en-US" sz="2400" dirty="0">
                <a:latin typeface="Times New Roman" panose="02020603050405020304" pitchFamily="18" charset="0"/>
                <a:cs typeface="Times New Roman" panose="02020603050405020304" pitchFamily="18" charset="0"/>
              </a:rPr>
              <a:t>Backend: Python (Django) or Java (Spring Boot) or Node.js.</a:t>
            </a:r>
          </a:p>
          <a:p>
            <a:r>
              <a:rPr lang="en-US" sz="2400" dirty="0">
                <a:latin typeface="Times New Roman" panose="02020603050405020304" pitchFamily="18" charset="0"/>
                <a:cs typeface="Times New Roman" panose="02020603050405020304" pitchFamily="18" charset="0"/>
              </a:rPr>
              <a:t>Database: MySQL or MongoDB for storing user data and orders.</a:t>
            </a:r>
          </a:p>
          <a:p>
            <a:r>
              <a:rPr lang="en-US" sz="2400" dirty="0">
                <a:latin typeface="Times New Roman" panose="02020603050405020304" pitchFamily="18" charset="0"/>
                <a:cs typeface="Times New Roman" panose="02020603050405020304" pitchFamily="18" charset="0"/>
              </a:rPr>
              <a:t>Payment Gateway Integration: Stripe, </a:t>
            </a:r>
            <a:r>
              <a:rPr lang="en-US" sz="2400" dirty="0" err="1">
                <a:latin typeface="Times New Roman" panose="02020603050405020304" pitchFamily="18" charset="0"/>
                <a:cs typeface="Times New Roman" panose="02020603050405020304" pitchFamily="18" charset="0"/>
              </a:rPr>
              <a:t>Razorpay</a:t>
            </a:r>
            <a:r>
              <a:rPr lang="en-US" sz="2400" dirty="0">
                <a:latin typeface="Times New Roman" panose="02020603050405020304" pitchFamily="18" charset="0"/>
                <a:cs typeface="Times New Roman" panose="02020603050405020304" pitchFamily="18" charset="0"/>
              </a:rPr>
              <a:t>, or PayPal API.</a:t>
            </a:r>
          </a:p>
          <a:p>
            <a:r>
              <a:rPr lang="en-US" sz="2400" dirty="0">
                <a:latin typeface="Times New Roman" panose="02020603050405020304" pitchFamily="18" charset="0"/>
                <a:cs typeface="Times New Roman" panose="02020603050405020304" pitchFamily="18" charset="0"/>
              </a:rPr>
              <a:t>Security: SSL Encryption and JWT Authentication for secure logins.</a:t>
            </a: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43647E5-B058-7E64-746D-CF5323C0CD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4258871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4A491-C64E-C6E7-02F4-07E6918E9ED5}"/>
              </a:ext>
            </a:extLst>
          </p:cNvPr>
          <p:cNvSpPr>
            <a:spLocks noGrp="1"/>
          </p:cNvSpPr>
          <p:nvPr>
            <p:ph type="title"/>
          </p:nvPr>
        </p:nvSpPr>
        <p:spPr>
          <a:xfrm>
            <a:off x="207264" y="177482"/>
            <a:ext cx="10515600" cy="503555"/>
          </a:xfrm>
        </p:spPr>
        <p:txBody>
          <a:bodyPr>
            <a:normAutofit fontScale="90000"/>
          </a:bodyPr>
          <a:lstStyle/>
          <a:p>
            <a:r>
              <a:rPr lang="en-US" sz="3200" b="1" dirty="0">
                <a:latin typeface="Times New Roman" panose="02020603050405020304" pitchFamily="18" charset="0"/>
                <a:cs typeface="Times New Roman" panose="02020603050405020304" pitchFamily="18" charset="0"/>
              </a:rPr>
              <a:t>Real-Time Example: “KHAN’s Lunch"</a:t>
            </a:r>
          </a:p>
        </p:txBody>
      </p:sp>
      <p:sp>
        <p:nvSpPr>
          <p:cNvPr id="3" name="Content Placeholder 2">
            <a:extLst>
              <a:ext uri="{FF2B5EF4-FFF2-40B4-BE49-F238E27FC236}">
                <a16:creationId xmlns:a16="http://schemas.microsoft.com/office/drawing/2014/main" id="{E117324F-F0C5-C5FF-5E01-6338C5267874}"/>
              </a:ext>
            </a:extLst>
          </p:cNvPr>
          <p:cNvSpPr>
            <a:spLocks noGrp="1"/>
          </p:cNvSpPr>
          <p:nvPr>
            <p:ph idx="1"/>
          </p:nvPr>
        </p:nvSpPr>
        <p:spPr>
          <a:xfrm>
            <a:off x="298704" y="810641"/>
            <a:ext cx="10515600" cy="3423031"/>
          </a:xfrm>
        </p:spPr>
        <p:txBody>
          <a:bodyPr>
            <a:normAutofit/>
          </a:bodyPr>
          <a:lstStyle/>
          <a:p>
            <a:r>
              <a:rPr lang="en-US" sz="2400" dirty="0">
                <a:latin typeface="Times New Roman" panose="02020603050405020304" pitchFamily="18" charset="0"/>
                <a:cs typeface="Times New Roman" panose="02020603050405020304" pitchFamily="18" charset="0"/>
              </a:rPr>
              <a:t>Scenario: khan is an employee with a 30-minute lunch break.</a:t>
            </a:r>
          </a:p>
          <a:p>
            <a:r>
              <a:rPr lang="en-US" sz="2400" dirty="0">
                <a:latin typeface="Times New Roman" panose="02020603050405020304" pitchFamily="18" charset="0"/>
                <a:cs typeface="Times New Roman" panose="02020603050405020304" pitchFamily="18" charset="0"/>
              </a:rPr>
              <a:t>10:30 AM: Rahul logs into e-Canteen from his desk. He sees "Thali" and "Cold Coffee" are available.</a:t>
            </a:r>
          </a:p>
          <a:p>
            <a:r>
              <a:rPr lang="en-US" sz="2400" dirty="0">
                <a:latin typeface="Times New Roman" panose="02020603050405020304" pitchFamily="18" charset="0"/>
                <a:cs typeface="Times New Roman" panose="02020603050405020304" pitchFamily="18" charset="0"/>
              </a:rPr>
              <a:t>10:32 AM: He adds them to his cart and pays ₹150 using his Office Wallet.</a:t>
            </a:r>
          </a:p>
          <a:p>
            <a:r>
              <a:rPr lang="en-US" sz="2400" dirty="0">
                <a:latin typeface="Times New Roman" panose="02020603050405020304" pitchFamily="18" charset="0"/>
                <a:cs typeface="Times New Roman" panose="02020603050405020304" pitchFamily="18" charset="0"/>
              </a:rPr>
              <a:t>12:45 PM: Rahul leaves his desk. He does not stand in the billing line.</a:t>
            </a:r>
          </a:p>
          <a:p>
            <a:r>
              <a:rPr lang="en-US" sz="2400" dirty="0">
                <a:latin typeface="Times New Roman" panose="02020603050405020304" pitchFamily="18" charset="0"/>
                <a:cs typeface="Times New Roman" panose="02020603050405020304" pitchFamily="18" charset="0"/>
              </a:rPr>
              <a:t>12:50 PM: He walks to the "Pre-Order Pickup Counter," shows his QR code, collects his packed lunch, and finds a seat.</a:t>
            </a:r>
          </a:p>
          <a:p>
            <a:r>
              <a:rPr lang="en-US" sz="2400" dirty="0">
                <a:latin typeface="Times New Roman" panose="02020603050405020304" pitchFamily="18" charset="0"/>
                <a:cs typeface="Times New Roman" panose="02020603050405020304" pitchFamily="18" charset="0"/>
              </a:rPr>
              <a:t>Result: Rahul saved 15 minutes!</a:t>
            </a: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C294BA9-DD63-89EA-20F4-6DA345F30B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2602783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91C3-299E-2CD3-0068-0AF8446490AB}"/>
              </a:ext>
            </a:extLst>
          </p:cNvPr>
          <p:cNvSpPr>
            <a:spLocks noGrp="1"/>
          </p:cNvSpPr>
          <p:nvPr>
            <p:ph type="title"/>
          </p:nvPr>
        </p:nvSpPr>
        <p:spPr>
          <a:xfrm>
            <a:off x="152400" y="182245"/>
            <a:ext cx="10515600" cy="604139"/>
          </a:xfrm>
        </p:spPr>
        <p:txBody>
          <a:bodyPr>
            <a:normAutofit/>
          </a:bodyPr>
          <a:lstStyle/>
          <a:p>
            <a:r>
              <a:rPr lang="en-US" sz="3200" dirty="0">
                <a:latin typeface="Times New Roman" panose="02020603050405020304" pitchFamily="18" charset="0"/>
                <a:cs typeface="Times New Roman" panose="02020603050405020304" pitchFamily="18" charset="0"/>
              </a:rPr>
              <a:t>Ensuring Data Safety</a:t>
            </a:r>
          </a:p>
        </p:txBody>
      </p:sp>
      <p:sp>
        <p:nvSpPr>
          <p:cNvPr id="3" name="Content Placeholder 2">
            <a:extLst>
              <a:ext uri="{FF2B5EF4-FFF2-40B4-BE49-F238E27FC236}">
                <a16:creationId xmlns:a16="http://schemas.microsoft.com/office/drawing/2014/main" id="{366CD70F-B9D0-CF5E-19A4-39A132A03CE6}"/>
              </a:ext>
            </a:extLst>
          </p:cNvPr>
          <p:cNvSpPr>
            <a:spLocks noGrp="1"/>
          </p:cNvSpPr>
          <p:nvPr>
            <p:ph idx="1"/>
          </p:nvPr>
        </p:nvSpPr>
        <p:spPr>
          <a:xfrm>
            <a:off x="289560" y="1057529"/>
            <a:ext cx="10515600" cy="2179447"/>
          </a:xfrm>
        </p:spPr>
        <p:txBody>
          <a:bodyPr>
            <a:normAutofit/>
          </a:bodyPr>
          <a:lstStyle/>
          <a:p>
            <a:r>
              <a:rPr lang="en-US" sz="2400" dirty="0">
                <a:latin typeface="Times New Roman" panose="02020603050405020304" pitchFamily="18" charset="0"/>
                <a:cs typeface="Times New Roman" panose="02020603050405020304" pitchFamily="18" charset="0"/>
              </a:rPr>
              <a:t>Secure Login: Two-Factor Authentication (2FA) for payments.</a:t>
            </a:r>
          </a:p>
          <a:p>
            <a:r>
              <a:rPr lang="en-US" sz="2400" dirty="0">
                <a:latin typeface="Times New Roman" panose="02020603050405020304" pitchFamily="18" charset="0"/>
                <a:cs typeface="Times New Roman" panose="02020603050405020304" pitchFamily="18" charset="0"/>
              </a:rPr>
              <a:t>Data Encryption: All passwords and transaction details are encrypted.</a:t>
            </a:r>
          </a:p>
          <a:p>
            <a:r>
              <a:rPr lang="en-US" sz="2400" dirty="0">
                <a:latin typeface="Times New Roman" panose="02020603050405020304" pitchFamily="18" charset="0"/>
                <a:cs typeface="Times New Roman" panose="02020603050405020304" pitchFamily="18" charset="0"/>
              </a:rPr>
              <a:t>Role-Based Access: Customers cannot see Admin panels; Admins cannot see user passwords.</a:t>
            </a:r>
          </a:p>
          <a:p>
            <a:r>
              <a:rPr lang="en-US" sz="2400" dirty="0">
                <a:latin typeface="Times New Roman" panose="02020603050405020304" pitchFamily="18" charset="0"/>
                <a:cs typeface="Times New Roman" panose="02020603050405020304" pitchFamily="18" charset="0"/>
              </a:rPr>
              <a:t>SQL Injection Protection: Secure coding practices to prevent database hacking.</a:t>
            </a:r>
          </a:p>
          <a:p>
            <a:endParaRPr lang="en-US"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D903608-CC90-C266-53AA-457E361050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2764530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8E395-5B87-33E4-AB17-E5232C362994}"/>
              </a:ext>
            </a:extLst>
          </p:cNvPr>
          <p:cNvSpPr>
            <a:spLocks noGrp="1"/>
          </p:cNvSpPr>
          <p:nvPr>
            <p:ph type="title"/>
          </p:nvPr>
        </p:nvSpPr>
        <p:spPr>
          <a:xfrm>
            <a:off x="97536" y="327401"/>
            <a:ext cx="10515600" cy="589843"/>
          </a:xfrm>
        </p:spPr>
        <p:txBody>
          <a:bodyPr>
            <a:normAutofit/>
          </a:bodyPr>
          <a:lstStyle/>
          <a:p>
            <a:r>
              <a:rPr lang="en-US" sz="32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C9DDE8B9-B8CF-3E42-C6A6-A8E9E9FF2643}"/>
              </a:ext>
            </a:extLst>
          </p:cNvPr>
          <p:cNvSpPr>
            <a:spLocks noGrp="1"/>
          </p:cNvSpPr>
          <p:nvPr>
            <p:ph idx="1"/>
          </p:nvPr>
        </p:nvSpPr>
        <p:spPr>
          <a:xfrm>
            <a:off x="225552" y="1098341"/>
            <a:ext cx="10515600" cy="4351338"/>
          </a:xfrm>
        </p:spPr>
        <p:txBody>
          <a:bodyPr>
            <a:normAutofit/>
          </a:bodyPr>
          <a:lstStyle/>
          <a:p>
            <a:r>
              <a:rPr lang="en-US" sz="2400" dirty="0">
                <a:latin typeface="Times New Roman" panose="02020603050405020304" pitchFamily="18" charset="0"/>
                <a:cs typeface="Times New Roman" panose="02020603050405020304" pitchFamily="18" charset="0"/>
              </a:rPr>
              <a:t>The Smart E-Canteen system successfully provides a user-friendly and efficient digital solution for college canteen management. It simplifies food ordering by allowing users to browse menus, add items to cart, and place orders online without standing in queues. The system enhances convenience, reduces manual errors, and supports cashless transactions. </a:t>
            </a:r>
          </a:p>
          <a:p>
            <a:r>
              <a:rPr lang="en-US" sz="2400" dirty="0">
                <a:latin typeface="Times New Roman" panose="02020603050405020304" pitchFamily="18" charset="0"/>
                <a:cs typeface="Times New Roman" panose="02020603050405020304" pitchFamily="18" charset="0"/>
              </a:rPr>
              <a:t>By integrating features like real-time menu display, cart management, login functionality, and responsive design, the proposed system improves both student experience and canteen operations. It is scalable, secure, and adaptable for future enhancements such as online payments, inventory tracking, and admin dashboards. </a:t>
            </a:r>
          </a:p>
          <a:p>
            <a:r>
              <a:rPr lang="en-US" sz="2400" dirty="0">
                <a:latin typeface="Times New Roman" panose="02020603050405020304" pitchFamily="18" charset="0"/>
                <a:cs typeface="Times New Roman" panose="02020603050405020304" pitchFamily="18" charset="0"/>
              </a:rPr>
              <a:t> Overall, the Smart E-Canteen platform modernizes traditional canteen services and contributes to a smarter, technology-driven campus environment</a:t>
            </a:r>
          </a:p>
        </p:txBody>
      </p:sp>
      <p:pic>
        <p:nvPicPr>
          <p:cNvPr id="4" name="Picture 3">
            <a:extLst>
              <a:ext uri="{FF2B5EF4-FFF2-40B4-BE49-F238E27FC236}">
                <a16:creationId xmlns:a16="http://schemas.microsoft.com/office/drawing/2014/main" id="{8E33A303-443D-5105-CE28-1857852892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59009" y="0"/>
            <a:ext cx="3332991" cy="1244646"/>
          </a:xfrm>
          <a:prstGeom prst="rect">
            <a:avLst/>
          </a:prstGeom>
        </p:spPr>
      </p:pic>
    </p:spTree>
    <p:extLst>
      <p:ext uri="{BB962C8B-B14F-4D97-AF65-F5344CB8AC3E}">
        <p14:creationId xmlns:p14="http://schemas.microsoft.com/office/powerpoint/2010/main" val="40014852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814</Words>
  <Application>Microsoft Office PowerPoint</Application>
  <PresentationFormat>Widescreen</PresentationFormat>
  <Paragraphs>65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PowerPoint Presentation</vt:lpstr>
      <vt:lpstr>What is e-Canteen?</vt:lpstr>
      <vt:lpstr>Issues with Traditional Canteens</vt:lpstr>
      <vt:lpstr>The e-Canteen Ecosystem</vt:lpstr>
      <vt:lpstr>Features for the Customer</vt:lpstr>
      <vt:lpstr>Features for the Canteen Admin:</vt:lpstr>
      <vt:lpstr>How It Works (Workflow)</vt:lpstr>
      <vt:lpstr>Technical Specifications</vt:lpstr>
      <vt:lpstr>Real-Time Example: “KHAN’s Lunch"</vt:lpstr>
      <vt:lpstr>Ensuring Data Safety</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5</cp:revision>
  <dcterms:created xsi:type="dcterms:W3CDTF">2026-01-31T06:14:42Z</dcterms:created>
  <dcterms:modified xsi:type="dcterms:W3CDTF">2026-04-04T06:13:07Z</dcterms:modified>
</cp:coreProperties>
</file>